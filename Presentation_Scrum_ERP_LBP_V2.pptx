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Projet ERP LBP REFACTO</a:t>
            </a:r>
          </a:p>
        </p:txBody>
      </p:sp>
      <p:sp>
        <p:nvSpPr>
          <p:cNvPr id="3" name="Subtitle 2"/>
          <p:cNvSpPr>
            <a:spLocks noGrp="1"/>
          </p:cNvSpPr>
          <p:nvPr>
            <p:ph type="subTitle" idx="1"/>
          </p:nvPr>
        </p:nvSpPr>
        <p:spPr/>
        <p:txBody>
          <a:bodyPr/>
          <a:lstStyle/>
          <a:p>
            <a:r>
              <a:t>Gestion de projet avec le framework Scrum</a:t>
            </a:r>
          </a:p>
          <a:p>
            <a:r>
              <a:t>Évaluation Continue - Exposé</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Sommaire de la présentation</a:t>
            </a:r>
          </a:p>
        </p:txBody>
      </p:sp>
      <p:sp>
        <p:nvSpPr>
          <p:cNvPr id="3" name="Content Placeholder 2"/>
          <p:cNvSpPr>
            <a:spLocks noGrp="1"/>
          </p:cNvSpPr>
          <p:nvPr>
            <p:ph idx="1"/>
          </p:nvPr>
        </p:nvSpPr>
        <p:spPr/>
        <p:txBody>
          <a:bodyPr/>
          <a:lstStyle/>
          <a:p>
            <a:r>
              <a:t>1. Introduction au projet ERP LBP</a:t>
            </a:r>
          </a:p>
          <a:p>
            <a:r>
              <a:t>2. Comment nous avons réparti les rôles Scrum</a:t>
            </a:r>
          </a:p>
          <a:p>
            <a:r>
              <a:t>3. Notre rythme de travail (Les Événements)</a:t>
            </a:r>
          </a:p>
          <a:p>
            <a:r>
              <a:t>4. Nos outils de suivi (Les Artefacts)</a:t>
            </a:r>
          </a:p>
          <a:p>
            <a:r>
              <a:t>5. Découpage fonctionnel (3 modules)</a:t>
            </a:r>
          </a:p>
          <a:p>
            <a:r>
              <a:t>6. Extrait de notre Product Backlog</a:t>
            </a:r>
          </a:p>
          <a:p>
            <a:r>
              <a:t>7. Conclusion et bilan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1. Le Projet : ERP LBP REFACTO</a:t>
            </a:r>
          </a:p>
        </p:txBody>
      </p:sp>
      <p:sp>
        <p:nvSpPr>
          <p:cNvPr id="3" name="Content Placeholder 2"/>
          <p:cNvSpPr>
            <a:spLocks noGrp="1"/>
          </p:cNvSpPr>
          <p:nvPr>
            <p:ph idx="1"/>
          </p:nvPr>
        </p:nvSpPr>
        <p:spPr/>
        <p:txBody>
          <a:bodyPr/>
          <a:lstStyle/>
          <a:p>
            <a:r>
              <a:t>L'idée de base de notre projet est de concevoir un système ERP modulaire, avec une architecture PHP MVC légère.</a:t>
            </a:r>
          </a:p>
          <a:p>
            <a:pPr/>
            <a:r>
              <a:t>Le besoin métier :</a:t>
            </a:r>
          </a:p>
          <a:p>
            <a:pPr lvl="1"/>
            <a:r>
              <a:t>Disposer d'un portail centralisé pour gérer les RH, l'administration et les employés.</a:t>
            </a:r>
          </a:p>
          <a:p>
            <a:pPr/>
            <a:r>
              <a:t>La solution technique :</a:t>
            </a:r>
          </a:p>
          <a:p>
            <a:pPr lvl="1"/>
            <a:r>
              <a:t>Un développement "from scratch" en PHP 8 et MySQL, sans framework lourd, pour tout maîtriser.</a:t>
            </a:r>
          </a:p>
          <a:p>
            <a:pPr/>
            <a:r>
              <a:t>L'enjeu :</a:t>
            </a:r>
          </a:p>
          <a:p>
            <a:pPr lvl="1"/>
            <a:r>
              <a:t>Gérer efficacement ce développement en équipe grâce à l'agilité (Scrum) pour éviter l'effet tunnel.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2. La répartition des Rôles Scrum</a:t>
            </a:r>
          </a:p>
        </p:txBody>
      </p:sp>
      <p:sp>
        <p:nvSpPr>
          <p:cNvPr id="3" name="Content Placeholder 2"/>
          <p:cNvSpPr>
            <a:spLocks noGrp="1"/>
          </p:cNvSpPr>
          <p:nvPr>
            <p:ph idx="1"/>
          </p:nvPr>
        </p:nvSpPr>
        <p:spPr/>
        <p:txBody>
          <a:bodyPr/>
          <a:lstStyle/>
          <a:p>
            <a:r>
              <a:t>Nous avons dû nous adapter au framework Scrum. Voici comment nous l'avons transposé à notre groupe :</a:t>
            </a:r>
          </a:p>
          <a:p>
            <a:pPr/>
            <a:r>
              <a:t>Le Product Owner (PO) :</a:t>
            </a:r>
          </a:p>
          <a:p>
            <a:pPr lvl="1"/>
            <a:r>
              <a:t>Il s'est mis à la place du client. Il a porté la vision du portail ERP, priorisé les fonctionnalités (par ex: choisir de faire l'authentification avant les congés) et rédigé le Backlog.</a:t>
            </a:r>
          </a:p>
          <a:p>
            <a:pPr/>
            <a:r>
              <a:t>Le Scrum Master (SM) :</a:t>
            </a:r>
          </a:p>
          <a:p>
            <a:pPr lvl="1"/>
            <a:r>
              <a:t>Son but a été de fluidifier le travail. Il animait nos petites réunions et nous aidait à résoudre les conflits techniques (comme des problèmes de fusion Git ou des soucis de BDD locale sur WAMP).</a:t>
            </a:r>
          </a:p>
          <a:p>
            <a:pPr/>
            <a:r>
              <a:t>L'Équipe de Développement (Nous) :</a:t>
            </a:r>
          </a:p>
          <a:p>
            <a:pPr lvl="1"/>
            <a:r>
              <a:t>Ensemble, nous avons conçu l'architecture MVC (Modèles, Vues, Contrôleurs) et codé les différentes pages du projet de manière auto-organisée.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 Notre rythme de travail (Cérémonies)</a:t>
            </a:r>
          </a:p>
        </p:txBody>
      </p:sp>
      <p:sp>
        <p:nvSpPr>
          <p:cNvPr id="3" name="Content Placeholder 2"/>
          <p:cNvSpPr>
            <a:spLocks noGrp="1"/>
          </p:cNvSpPr>
          <p:nvPr>
            <p:ph idx="1"/>
          </p:nvPr>
        </p:nvSpPr>
        <p:spPr/>
        <p:txBody>
          <a:bodyPr/>
          <a:lstStyle/>
          <a:p>
            <a:r>
              <a:t>Pour éviter de tout coder à la dernière minute, nous avons fonctionné par Sprints.</a:t>
            </a:r>
          </a:p>
          <a:p>
            <a:r>
              <a:t>Sprint Planning : En début de cycle, on sélectionnait ensemble ce qu'on était capable de coder (ex: "cette semaine, on finit l'espace employé").</a:t>
            </a:r>
          </a:p>
          <a:p>
            <a:r>
              <a:t>Daily Scrum : Un rapide point pour se dire : "J'ai fini le header, aujourd'hui j'attaque la base de données, est-ce que quelqu'un peut m'aider sur le CSS ?"</a:t>
            </a:r>
          </a:p>
          <a:p>
            <a:r>
              <a:t>Sprint Review : La démo de fin. On montrait le module fonctionnel (par exemple, la page de connexion qui marche vraiment).</a:t>
            </a:r>
          </a:p>
          <a:p>
            <a:r>
              <a:t>Sprint Rétrospective : Le moment honnête où on identifiait nos erreurs (ex: "On a mal organisé nos branches Git, il faut s'améliorer pour le prochain module").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4. Nos outils de suivi (Artefacts)</a:t>
            </a:r>
          </a:p>
        </p:txBody>
      </p:sp>
      <p:sp>
        <p:nvSpPr>
          <p:cNvPr id="3" name="Content Placeholder 2"/>
          <p:cNvSpPr>
            <a:spLocks noGrp="1"/>
          </p:cNvSpPr>
          <p:nvPr>
            <p:ph idx="1"/>
          </p:nvPr>
        </p:nvSpPr>
        <p:spPr/>
        <p:txBody>
          <a:bodyPr/>
          <a:lstStyle/>
          <a:p>
            <a:r>
              <a:t>Concrètement, la transparence de Scrum repose sur ces trois piliers pour nous :</a:t>
            </a:r>
          </a:p>
          <a:p>
            <a:r>
              <a:t>Product Backlog : Notre "To-Do List" globale. Tout ce qu'on rêvait de mettre dans l'ERP LBP (même les bonus). Géré par le PO.</a:t>
            </a:r>
          </a:p>
          <a:p>
            <a:r>
              <a:t>Sprint Backlog : L'engagement de l'équipe pour la semaine. Les User Stories précises qu'on était en train de coder.</a:t>
            </a:r>
          </a:p>
          <a:p>
            <a:r>
              <a:t>L'Incrément (le plus important) : À chaque fin de Sprint, on ne livrait pas juste du code source, mais une version de l'ERP qui tourne localement sur nos serveurs et qu'on peut tester. C'est la valeur ajoutée.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5. Découpage fonctionnel de l'ERP</a:t>
            </a:r>
          </a:p>
        </p:txBody>
      </p:sp>
      <p:sp>
        <p:nvSpPr>
          <p:cNvPr id="3" name="Content Placeholder 2"/>
          <p:cNvSpPr>
            <a:spLocks noGrp="1"/>
          </p:cNvSpPr>
          <p:nvPr>
            <p:ph idx="1"/>
          </p:nvPr>
        </p:nvSpPr>
        <p:spPr/>
        <p:txBody>
          <a:bodyPr/>
          <a:lstStyle/>
          <a:p>
            <a:r>
              <a:t>Nous avons découpé le système en 3 grands blocs de complexité variable :</a:t>
            </a:r>
          </a:p>
          <a:p>
            <a:pPr/>
            <a:r>
              <a:t>1. Le Portail et l'Authentification (Le cœur du système)</a:t>
            </a:r>
          </a:p>
          <a:p>
            <a:pPr lvl="1"/>
            <a:r>
              <a:t>Connexion sécurisée via Email/Mot de passe</a:t>
            </a:r>
          </a:p>
          <a:p>
            <a:pPr lvl="1"/>
            <a:r>
              <a:t>Gestion des sessions (déconnexion auto, etc.)</a:t>
            </a:r>
          </a:p>
          <a:p>
            <a:pPr lvl="1"/>
            <a:r>
              <a:t>Affichage dynamique du dashboard selon les droits</a:t>
            </a:r>
          </a:p>
          <a:p>
            <a:pPr/>
            <a:r>
              <a:t>2. Le Module Ressources Humaines (RH)</a:t>
            </a:r>
          </a:p>
          <a:p>
            <a:pPr lvl="1"/>
            <a:r>
              <a:t>Création d'une fiche employé</a:t>
            </a:r>
          </a:p>
          <a:p>
            <a:pPr lvl="1"/>
            <a:r>
              <a:t>Visualisation de la liste du personnel (Annuaire)</a:t>
            </a:r>
          </a:p>
          <a:p>
            <a:pPr lvl="1"/>
            <a:r>
              <a:t>Soumission et validation d'une demande de congés</a:t>
            </a:r>
          </a:p>
          <a:p>
            <a:pPr/>
            <a:r>
              <a:t>3. Le Module Administration</a:t>
            </a:r>
          </a:p>
          <a:p>
            <a:pPr lvl="1"/>
            <a:r>
              <a:t>Attribution des rôles (Admin, Utilisateur, RH)</a:t>
            </a:r>
          </a:p>
          <a:p>
            <a:pPr lvl="1"/>
            <a:r>
              <a:t>Consultation des logs d'erreurs système</a:t>
            </a:r>
          </a:p>
          <a:p>
            <a:pPr lvl="1"/>
            <a:r>
              <a:t>Activation du mode maintenance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6. Extrait de notre Product Backlog</a:t>
            </a:r>
          </a:p>
        </p:txBody>
      </p:sp>
      <p:graphicFrame>
        <p:nvGraphicFramePr>
          <p:cNvPr id="3" name="Table 2"/>
          <p:cNvGraphicFramePr>
            <a:graphicFrameLocks noGrp="1"/>
          </p:cNvGraphicFramePr>
          <p:nvPr/>
        </p:nvGraphicFramePr>
        <p:xfrm>
          <a:off x="182880" y="1371600"/>
          <a:ext cx="8686800" cy="4572000"/>
        </p:xfrm>
        <a:graphic>
          <a:graphicData uri="http://schemas.openxmlformats.org/drawingml/2006/table">
            <a:tbl>
              <a:tblPr firstRow="1" bandRow="1">
                <a:tableStyleId>{5C22544A-7EE6-4342-B048-85BDC9FD1C3A}</a:tableStyleId>
              </a:tblPr>
              <a:tblGrid>
                <a:gridCol w="914400"/>
                <a:gridCol w="5303520"/>
                <a:gridCol w="1280160"/>
                <a:gridCol w="1188720"/>
              </a:tblGrid>
              <a:tr h="457200">
                <a:tc>
                  <a:txBody>
                    <a:bodyPr/>
                    <a:lstStyle/>
                    <a:p>
                      <a:r>
                        <a:t>Module</a:t>
                      </a:r>
                    </a:p>
                  </a:txBody>
                  <a:tcPr/>
                </a:tc>
                <a:tc>
                  <a:txBody>
                    <a:bodyPr/>
                    <a:lstStyle/>
                    <a:p>
                      <a:r>
                        <a:t>User Story (En tant que... je veux... afin de...)</a:t>
                      </a:r>
                    </a:p>
                  </a:txBody>
                  <a:tcPr/>
                </a:tc>
                <a:tc>
                  <a:txBody>
                    <a:bodyPr/>
                    <a:lstStyle/>
                    <a:p>
                      <a:r>
                        <a:t>Priorité</a:t>
                      </a:r>
                    </a:p>
                  </a:txBody>
                  <a:tcPr/>
                </a:tc>
                <a:tc>
                  <a:txBody>
                    <a:bodyPr/>
                    <a:lstStyle/>
                    <a:p>
                      <a:r>
                        <a:t>Taille (Points)</a:t>
                      </a:r>
                    </a:p>
                  </a:txBody>
                  <a:tcPr/>
                </a:tc>
              </a:tr>
              <a:tr h="457200">
                <a:tc>
                  <a:txBody>
                    <a:bodyPr/>
                    <a:lstStyle/>
                    <a:p>
                      <a:r>
                        <a:t>Portail</a:t>
                      </a:r>
                    </a:p>
                  </a:txBody>
                  <a:tcPr/>
                </a:tc>
                <a:tc>
                  <a:txBody>
                    <a:bodyPr/>
                    <a:lstStyle/>
                    <a:p>
                      <a:r>
                        <a:t>En tant qu'utilisateur, je veux m'authentifier, afin d'accéder à l'ERP.</a:t>
                      </a:r>
                    </a:p>
                  </a:txBody>
                  <a:tcPr/>
                </a:tc>
                <a:tc>
                  <a:txBody>
                    <a:bodyPr/>
                    <a:lstStyle/>
                    <a:p>
                      <a:r>
                        <a:t>1 - Critique</a:t>
                      </a:r>
                    </a:p>
                  </a:txBody>
                  <a:tcPr/>
                </a:tc>
                <a:tc>
                  <a:txBody>
                    <a:bodyPr/>
                    <a:lstStyle/>
                    <a:p>
                      <a:r>
                        <a:t>5</a:t>
                      </a:r>
                    </a:p>
                  </a:txBody>
                  <a:tcPr/>
                </a:tc>
              </a:tr>
              <a:tr h="457200">
                <a:tc>
                  <a:txBody>
                    <a:bodyPr/>
                    <a:lstStyle/>
                    <a:p>
                      <a:r>
                        <a:t>Portail</a:t>
                      </a:r>
                    </a:p>
                  </a:txBody>
                  <a:tcPr/>
                </a:tc>
                <a:tc>
                  <a:txBody>
                    <a:bodyPr/>
                    <a:lstStyle/>
                    <a:p>
                      <a:r>
                        <a:t>En tant que système, je veux expirer la session, pour sécuriser l'accès.</a:t>
                      </a:r>
                    </a:p>
                  </a:txBody>
                  <a:tcPr/>
                </a:tc>
                <a:tc>
                  <a:txBody>
                    <a:bodyPr/>
                    <a:lstStyle/>
                    <a:p>
                      <a:r>
                        <a:t>2 - Haute</a:t>
                      </a:r>
                    </a:p>
                  </a:txBody>
                  <a:tcPr/>
                </a:tc>
                <a:tc>
                  <a:txBody>
                    <a:bodyPr/>
                    <a:lstStyle/>
                    <a:p>
                      <a:r>
                        <a:t>3</a:t>
                      </a:r>
                    </a:p>
                  </a:txBody>
                  <a:tcPr/>
                </a:tc>
              </a:tr>
              <a:tr h="457200">
                <a:tc>
                  <a:txBody>
                    <a:bodyPr/>
                    <a:lstStyle/>
                    <a:p>
                      <a:r>
                        <a:t>Portail</a:t>
                      </a:r>
                    </a:p>
                  </a:txBody>
                  <a:tcPr/>
                </a:tc>
                <a:tc>
                  <a:txBody>
                    <a:bodyPr/>
                    <a:lstStyle/>
                    <a:p>
                      <a:r>
                        <a:t>En tant qu'utilisateur, je veux voir le dashboard, pour choisir un module.</a:t>
                      </a:r>
                    </a:p>
                  </a:txBody>
                  <a:tcPr/>
                </a:tc>
                <a:tc>
                  <a:txBody>
                    <a:bodyPr/>
                    <a:lstStyle/>
                    <a:p>
                      <a:r>
                        <a:t>1 - Critique</a:t>
                      </a:r>
                    </a:p>
                  </a:txBody>
                  <a:tcPr/>
                </a:tc>
                <a:tc>
                  <a:txBody>
                    <a:bodyPr/>
                    <a:lstStyle/>
                    <a:p>
                      <a:r>
                        <a:t>5</a:t>
                      </a:r>
                    </a:p>
                  </a:txBody>
                  <a:tcPr/>
                </a:tc>
              </a:tr>
              <a:tr h="457200">
                <a:tc>
                  <a:txBody>
                    <a:bodyPr/>
                    <a:lstStyle/>
                    <a:p>
                      <a:r>
                        <a:t>RH</a:t>
                      </a:r>
                    </a:p>
                  </a:txBody>
                  <a:tcPr/>
                </a:tc>
                <a:tc>
                  <a:txBody>
                    <a:bodyPr/>
                    <a:lstStyle/>
                    <a:p>
                      <a:r>
                        <a:t>En tant que RH, je veux ajouter un employé, pour peupler la BDD.</a:t>
                      </a:r>
                    </a:p>
                  </a:txBody>
                  <a:tcPr/>
                </a:tc>
                <a:tc>
                  <a:txBody>
                    <a:bodyPr/>
                    <a:lstStyle/>
                    <a:p>
                      <a:r>
                        <a:t>2 - Haute</a:t>
                      </a:r>
                    </a:p>
                  </a:txBody>
                  <a:tcPr/>
                </a:tc>
                <a:tc>
                  <a:txBody>
                    <a:bodyPr/>
                    <a:lstStyle/>
                    <a:p>
                      <a:r>
                        <a:t>8</a:t>
                      </a:r>
                    </a:p>
                  </a:txBody>
                  <a:tcPr/>
                </a:tc>
              </a:tr>
              <a:tr h="457200">
                <a:tc>
                  <a:txBody>
                    <a:bodyPr/>
                    <a:lstStyle/>
                    <a:p>
                      <a:r>
                        <a:t>RH</a:t>
                      </a:r>
                    </a:p>
                  </a:txBody>
                  <a:tcPr/>
                </a:tc>
                <a:tc>
                  <a:txBody>
                    <a:bodyPr/>
                    <a:lstStyle/>
                    <a:p>
                      <a:r>
                        <a:t>En tant qu'employé, je veux voir l'annuaire, pour contacter un collègue.</a:t>
                      </a:r>
                    </a:p>
                  </a:txBody>
                  <a:tcPr/>
                </a:tc>
                <a:tc>
                  <a:txBody>
                    <a:bodyPr/>
                    <a:lstStyle/>
                    <a:p>
                      <a:r>
                        <a:t>3 - Moyenne</a:t>
                      </a:r>
                    </a:p>
                  </a:txBody>
                  <a:tcPr/>
                </a:tc>
                <a:tc>
                  <a:txBody>
                    <a:bodyPr/>
                    <a:lstStyle/>
                    <a:p>
                      <a:r>
                        <a:t>3</a:t>
                      </a:r>
                    </a:p>
                  </a:txBody>
                  <a:tcPr/>
                </a:tc>
              </a:tr>
              <a:tr h="457200">
                <a:tc>
                  <a:txBody>
                    <a:bodyPr/>
                    <a:lstStyle/>
                    <a:p>
                      <a:r>
                        <a:t>RH</a:t>
                      </a:r>
                    </a:p>
                  </a:txBody>
                  <a:tcPr/>
                </a:tc>
                <a:tc>
                  <a:txBody>
                    <a:bodyPr/>
                    <a:lstStyle/>
                    <a:p>
                      <a:r>
                        <a:t>En tant qu'employé, je veux demander un congé, pour mes vacances.</a:t>
                      </a:r>
                    </a:p>
                  </a:txBody>
                  <a:tcPr/>
                </a:tc>
                <a:tc>
                  <a:txBody>
                    <a:bodyPr/>
                    <a:lstStyle/>
                    <a:p>
                      <a:r>
                        <a:t>3 - Moyenne</a:t>
                      </a:r>
                    </a:p>
                  </a:txBody>
                  <a:tcPr/>
                </a:tc>
                <a:tc>
                  <a:txBody>
                    <a:bodyPr/>
                    <a:lstStyle/>
                    <a:p>
                      <a:r>
                        <a:t>8</a:t>
                      </a:r>
                    </a:p>
                  </a:txBody>
                  <a:tcPr/>
                </a:tc>
              </a:tr>
              <a:tr h="457200">
                <a:tc>
                  <a:txBody>
                    <a:bodyPr/>
                    <a:lstStyle/>
                    <a:p>
                      <a:r>
                        <a:t>Admin</a:t>
                      </a:r>
                    </a:p>
                  </a:txBody>
                  <a:tcPr/>
                </a:tc>
                <a:tc>
                  <a:txBody>
                    <a:bodyPr/>
                    <a:lstStyle/>
                    <a:p>
                      <a:r>
                        <a:t>En tant qu'admin, je veux attribuer des rôles, pour cloisonner les accès.</a:t>
                      </a:r>
                    </a:p>
                  </a:txBody>
                  <a:tcPr/>
                </a:tc>
                <a:tc>
                  <a:txBody>
                    <a:bodyPr/>
                    <a:lstStyle/>
                    <a:p>
                      <a:r>
                        <a:t>2 - Haute</a:t>
                      </a:r>
                    </a:p>
                  </a:txBody>
                  <a:tcPr/>
                </a:tc>
                <a:tc>
                  <a:txBody>
                    <a:bodyPr/>
                    <a:lstStyle/>
                    <a:p>
                      <a:r>
                        <a:t>5</a:t>
                      </a:r>
                    </a:p>
                  </a:txBody>
                  <a:tcPr/>
                </a:tc>
              </a:tr>
              <a:tr h="457200">
                <a:tc>
                  <a:txBody>
                    <a:bodyPr/>
                    <a:lstStyle/>
                    <a:p>
                      <a:r>
                        <a:t>Admin</a:t>
                      </a:r>
                    </a:p>
                  </a:txBody>
                  <a:tcPr/>
                </a:tc>
                <a:tc>
                  <a:txBody>
                    <a:bodyPr/>
                    <a:lstStyle/>
                    <a:p>
                      <a:r>
                        <a:t>En tant qu'admin, je veux activer la maintenance, pour faire des MAJ.</a:t>
                      </a:r>
                    </a:p>
                  </a:txBody>
                  <a:tcPr/>
                </a:tc>
                <a:tc>
                  <a:txBody>
                    <a:bodyPr/>
                    <a:lstStyle/>
                    <a:p>
                      <a:r>
                        <a:t>4 - Basse</a:t>
                      </a:r>
                    </a:p>
                  </a:txBody>
                  <a:tcPr/>
                </a:tc>
                <a:tc>
                  <a:txBody>
                    <a:bodyPr/>
                    <a:lstStyle/>
                    <a:p>
                      <a:r>
                        <a:t>3</a:t>
                      </a:r>
                    </a:p>
                  </a:txBody>
                  <a:tcPr/>
                </a:tc>
              </a:tr>
              <a:tr h="457200">
                <a:tc>
                  <a:txBody>
                    <a:bodyPr/>
                    <a:lstStyle/>
                    <a:p>
                      <a:r>
                        <a:t>Admin</a:t>
                      </a:r>
                    </a:p>
                  </a:txBody>
                  <a:tcPr/>
                </a:tc>
                <a:tc>
                  <a:txBody>
                    <a:bodyPr/>
                    <a:lstStyle/>
                    <a:p>
                      <a:r>
                        <a:t>En tant qu'admin, je veux visualiser les logs, pour tracer les bugs.</a:t>
                      </a:r>
                    </a:p>
                  </a:txBody>
                  <a:tcPr/>
                </a:tc>
                <a:tc>
                  <a:txBody>
                    <a:bodyPr/>
                    <a:lstStyle/>
                    <a:p>
                      <a:r>
                        <a:t>4 - Basse</a:t>
                      </a:r>
                    </a:p>
                  </a:txBody>
                  <a:tcPr/>
                </a:tc>
                <a:tc>
                  <a:txBody>
                    <a:bodyPr/>
                    <a:lstStyle/>
                    <a:p>
                      <a:r>
                        <a:t>2</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7. Conclusion et Bilan</a:t>
            </a:r>
          </a:p>
        </p:txBody>
      </p:sp>
      <p:sp>
        <p:nvSpPr>
          <p:cNvPr id="3" name="Content Placeholder 2"/>
          <p:cNvSpPr>
            <a:spLocks noGrp="1"/>
          </p:cNvSpPr>
          <p:nvPr>
            <p:ph idx="1"/>
          </p:nvPr>
        </p:nvSpPr>
        <p:spPr/>
        <p:txBody>
          <a:bodyPr/>
          <a:lstStyle/>
          <a:p>
            <a:r>
              <a:t>Ce que l'approche Scrum nous a apporté sur ce projet :</a:t>
            </a:r>
          </a:p>
          <a:p>
            <a:r>
              <a:t>Une meilleure visibilité : On savait toujours qui faisait quoi, et ce qu'il restait à coder (grâce aux Daily et au Backlog).</a:t>
            </a:r>
          </a:p>
          <a:p>
            <a:r>
              <a:t>Focus sur la valeur : En livrant des incréments par itération, nous avions très vite une application fonctionnelle plutôt qu'un gros code non testé à la fin.</a:t>
            </a:r>
          </a:p>
          <a:p>
            <a:r>
              <a:t>Capacité d'adaptation : Si un module s'avérait trop complexe (ex: gestion fine des permissions), on pouvait réestimer et ajuster le périmètre avec le Product Owner sans casser tout le projet.</a:t>
            </a:r>
          </a:p>
          <a:p>
            <a:r>
              <a:t>En résumé, Scrum a été un vrai filet de sécurité pour notre travail d'équipe.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Merci de votre attention !</a:t>
            </a:r>
          </a:p>
        </p:txBody>
      </p:sp>
      <p:sp>
        <p:nvSpPr>
          <p:cNvPr id="3" name="Subtitle 2"/>
          <p:cNvSpPr>
            <a:spLocks noGrp="1"/>
          </p:cNvSpPr>
          <p:nvPr>
            <p:ph type="subTitle" idx="1"/>
          </p:nvPr>
        </p:nvSpPr>
        <p:spPr/>
        <p:txBody>
          <a:bodyPr/>
          <a:lstStyle/>
          <a:p>
            <a:r>
              <a:t>Avez-vous des questions sur notre organisation ou sur l'ERP LBP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