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5000">
                <a:solidFill>
                  <a:srgbClr val="ED7D31"/>
                </a:solidFill>
              </a:defRPr>
            </a:pPr>
            <a:r>
              <a:t>Projet ERP LBP REFACTO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>
                <a:solidFill>
                  <a:srgbClr val="FFFFFF"/>
                </a:solidFill>
              </a:defRPr>
            </a:pPr>
            <a:r>
              <a:t>Gestion de projet avec le framework Scrum</a:t>
            </a:r>
            <a:br/>
            <a:r>
              <a:t>Évaluation Continue - Exposé</a:t>
            </a:r>
          </a:p>
        </p:txBody>
      </p:sp>
      <p:pic>
        <p:nvPicPr>
          <p:cNvPr id="4" name="Picture 3" descr="WhatsApp Image 2026-02-20 at 12.20.2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4754880"/>
            <a:ext cx="1371600" cy="6749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2240"/>
          </a:solidFill>
          <a:ln>
            <a:solidFill>
              <a:srgbClr val="0A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FFFFFF"/>
                </a:solidFill>
              </a:defRPr>
            </a:pPr>
            <a:r>
              <a:t>Sommaire de la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solidFill>
                  <a:srgbClr val="3C3C3C"/>
                </a:solidFill>
              </a:defRPr>
            </a:pPr>
            <a:r>
              <a:t>1. Présentation de l'Entreprise LBP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2. Le Projet ERP LBP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3. Le Framework Scrum : Définitions et Rôles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4. Notre rythme de travail (Les Événements)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5. Nos outils de suivi (Les Artefacts)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6. Découpage fonctionnel (3 modules)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7. Extrait de notre Product Backlog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8. Conclusion et bilan</a:t>
            </a:r>
          </a:p>
        </p:txBody>
      </p:sp>
      <p:pic>
        <p:nvPicPr>
          <p:cNvPr id="5" name="Picture 4" descr="WhatsApp Image 2026-02-20 at 12.20.2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91440"/>
            <a:ext cx="914400" cy="4499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2240"/>
          </a:solidFill>
          <a:ln>
            <a:solidFill>
              <a:srgbClr val="0A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FFFFFF"/>
                </a:solidFill>
              </a:defRPr>
            </a:pPr>
            <a:r>
              <a:t>1. Présentation de l'entreprise LBP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70C0"/>
                </a:solidFill>
              </a:defRPr>
            </a:pPr>
            <a:r>
              <a:t>LBP, une organisation en forte évolution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L'entreprise connaît une croissance de ses effectifs et de ses besoins internes.</a:t>
            </a:r>
          </a:p>
          <a:p>
            <a:pPr>
              <a:defRPr b="1" sz="2000">
                <a:solidFill>
                  <a:srgbClr val="0070C0"/>
                </a:solidFill>
              </a:defRPr>
            </a:pPr>
            <a:r>
              <a:t>Problématique actuelle :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Les processus RH et administratifs étaient gérés de manière éparpillée (fichiers Excel, emails...).</a:t>
            </a:r>
          </a:p>
          <a:p>
            <a:pPr>
              <a:defRPr b="1" sz="2000">
                <a:solidFill>
                  <a:srgbClr val="0070C0"/>
                </a:solidFill>
              </a:defRPr>
            </a:pPr>
            <a:r>
              <a:t>L'objectif pour LBP :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• Centraliser l'information pour gagner en efficacité.</a:t>
            </a:r>
            <a:br/>
            <a:r>
              <a:t>• Sécuriser l'accès aux données sensibles (employés, congés, droits).</a:t>
            </a:r>
            <a:br/>
            <a:r>
              <a:t>• Se doter d'un outil sur mesure, évolutif et moderne.</a:t>
            </a:r>
          </a:p>
        </p:txBody>
      </p:sp>
      <p:pic>
        <p:nvPicPr>
          <p:cNvPr id="5" name="Picture 4" descr="WhatsApp Image 2026-02-20 at 12.20.2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91440"/>
            <a:ext cx="914400" cy="4499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2240"/>
          </a:solidFill>
          <a:ln>
            <a:solidFill>
              <a:srgbClr val="0A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FFFFFF"/>
                </a:solidFill>
              </a:defRPr>
            </a:pPr>
            <a:r>
              <a:t>2. Le Projet : ERP LBP REFACTO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70C0"/>
                </a:solidFill>
              </a:defRPr>
            </a:pPr>
            <a:r>
              <a:t>Notre solution pour LBP :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Un ERP (Enterprise Resource Planning) modulaire.</a:t>
            </a:r>
          </a:p>
          <a:p>
            <a:pPr>
              <a:defRPr b="1" sz="2000">
                <a:solidFill>
                  <a:srgbClr val="0070C0"/>
                </a:solidFill>
              </a:defRPr>
            </a:pPr>
            <a:r>
              <a:t>La technique :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• Architecture PHP MVC légère (Modèle-Vue-Contrôleur).</a:t>
            </a:r>
            <a:br/>
            <a:r>
              <a:t>• Socle technique : PHP 8, MySQL, Apache.</a:t>
            </a:r>
          </a:p>
          <a:p>
            <a:pPr>
              <a:defRPr b="1" sz="2000">
                <a:solidFill>
                  <a:srgbClr val="0070C0"/>
                </a:solidFill>
              </a:defRPr>
            </a:pPr>
            <a:r>
              <a:t>L'enjeu projet :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• Construire ce système bloc par bloc en évitant de s'éparpiller.</a:t>
            </a:r>
            <a:br/>
            <a:r>
              <a:t>• Utiliser Scrum pour livrer de la valeur rapidement et s'adapter.</a:t>
            </a:r>
          </a:p>
        </p:txBody>
      </p:sp>
      <p:pic>
        <p:nvPicPr>
          <p:cNvPr id="5" name="Picture 4" descr="WhatsApp Image 2026-02-20 at 12.20.2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91440"/>
            <a:ext cx="914400" cy="4499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2240"/>
          </a:solidFill>
          <a:ln>
            <a:solidFill>
              <a:srgbClr val="0A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FFFFFF"/>
                </a:solidFill>
              </a:defRPr>
            </a:pPr>
            <a:r>
              <a:t>3. Scrum : Les Rôles et notre organisation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70C0"/>
                </a:solidFill>
              </a:defRPr>
            </a:pPr>
            <a:r>
              <a:t>L'Équipe Scrum :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Définition : Pluridisciplinaire, auto-gérée et concentrée sur un Product Goal.</a:t>
            </a:r>
          </a:p>
          <a:p>
            <a:pPr>
              <a:defRPr b="1" sz="2000">
                <a:solidFill>
                  <a:srgbClr val="0070C0"/>
                </a:solidFill>
              </a:defRPr>
            </a:pPr>
            <a:r>
              <a:t>Product Owner (PO) :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Théorie : Maximise la valeur du produit et gère le Backlog.</a:t>
            </a:r>
            <a:br/>
            <a:r>
              <a:t>Chez nous : Il a joué le rôle de client pour LBP, priorisé le module RH et écrit nos User Stories.</a:t>
            </a:r>
          </a:p>
          <a:p>
            <a:pPr>
              <a:defRPr b="1" sz="2000">
                <a:solidFill>
                  <a:srgbClr val="0070C0"/>
                </a:solidFill>
              </a:defRPr>
            </a:pPr>
            <a:r>
              <a:t>Scrum Master (SM) :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Théorie : Facilitateur et garant du cadre Scrum (Servant-Leader).</a:t>
            </a:r>
            <a:br/>
            <a:r>
              <a:t>Chez nous : Il animait nos réunions, chronométrait, et aidait à résoudre les conflits Git.</a:t>
            </a:r>
          </a:p>
          <a:p>
            <a:pPr>
              <a:defRPr b="1" sz="2000">
                <a:solidFill>
                  <a:srgbClr val="0070C0"/>
                </a:solidFill>
              </a:defRPr>
            </a:pPr>
            <a:r>
              <a:t>Developers (Équipe) :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Théorie : Les professionnels qui créent l'incrément à chaque Sprint.</a:t>
            </a:r>
            <a:br/>
            <a:r>
              <a:t>Chez nous : L'équipe solidaire qui a codé l'architecture MVC et les pages PHP.</a:t>
            </a:r>
          </a:p>
        </p:txBody>
      </p:sp>
      <p:pic>
        <p:nvPicPr>
          <p:cNvPr id="5" name="Picture 4" descr="WhatsApp Image 2026-02-20 at 12.20.2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91440"/>
            <a:ext cx="914400" cy="4499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2240"/>
          </a:solidFill>
          <a:ln>
            <a:solidFill>
              <a:srgbClr val="0A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FFFFFF"/>
                </a:solidFill>
              </a:defRPr>
            </a:pPr>
            <a:r>
              <a:t>4. Scrum : Les Événements (Cérémonies)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70C0"/>
                </a:solidFill>
              </a:defRPr>
            </a:pPr>
            <a:r>
              <a:t>Le Sprint (1 mois max) :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C'est le cœur de Scrum. Il contient 4 événements formels :</a:t>
            </a:r>
          </a:p>
          <a:p>
            <a:pPr>
              <a:defRPr b="1" sz="2000">
                <a:solidFill>
                  <a:srgbClr val="0070C0"/>
                </a:solidFill>
              </a:defRPr>
            </a:pPr>
            <a:r>
              <a:t>1. Sprint Planning :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Théorie : Définit le but (Sprint Goal) et comment le travail sera réalisé.</a:t>
            </a:r>
            <a:br/>
            <a:r>
              <a:t>Chez nous : On sélectionnait ensemble les fonctionnalités à coder pour le Sprint.</a:t>
            </a:r>
          </a:p>
          <a:p>
            <a:pPr>
              <a:defRPr b="1" sz="2000">
                <a:solidFill>
                  <a:srgbClr val="0070C0"/>
                </a:solidFill>
              </a:defRPr>
            </a:pPr>
            <a:r>
              <a:t>2. Daily Scrum :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Théorie : Point de 15 min de l'équipe pour se synchroniser.</a:t>
            </a:r>
            <a:br/>
            <a:r>
              <a:t>Chez nous : Point rapide pour s'entraider sur le code (ex: 'Je bloque sur la session PHP').</a:t>
            </a:r>
          </a:p>
          <a:p>
            <a:pPr>
              <a:defRPr b="1" sz="2000">
                <a:solidFill>
                  <a:srgbClr val="0070C0"/>
                </a:solidFill>
              </a:defRPr>
            </a:pPr>
            <a:r>
              <a:t>3. Sprint Review :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Théorie : Présentation de l'Incrément pour inspection et adaptation.</a:t>
            </a:r>
            <a:br/>
            <a:r>
              <a:t>Chez nous : On démontrait le module finalisé (comme la page de connexion).</a:t>
            </a:r>
          </a:p>
          <a:p>
            <a:pPr>
              <a:defRPr b="1" sz="2000">
                <a:solidFill>
                  <a:srgbClr val="0070C0"/>
                </a:solidFill>
              </a:defRPr>
            </a:pPr>
            <a:r>
              <a:t>4. Sprint Retrospective :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Théorie : Réflexion sur l'amélioration continue.</a:t>
            </a:r>
            <a:br/>
            <a:r>
              <a:t>Chez nous : Moment d'honnêteté pour mieux s'organiser sur le Sprint suivant.</a:t>
            </a:r>
          </a:p>
        </p:txBody>
      </p:sp>
      <p:pic>
        <p:nvPicPr>
          <p:cNvPr id="5" name="Picture 4" descr="WhatsApp Image 2026-02-20 at 12.20.2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91440"/>
            <a:ext cx="914400" cy="4499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2240"/>
          </a:solidFill>
          <a:ln>
            <a:solidFill>
              <a:srgbClr val="0A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FFFFFF"/>
                </a:solidFill>
              </a:defRPr>
            </a:pPr>
            <a:r>
              <a:t>5. Scrum : Les Artefacts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70C0"/>
                </a:solidFill>
              </a:defRPr>
            </a:pPr>
            <a:r>
              <a:t>La Transparence :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Les artefacts sont les outils qui apportent la transparence pour l'inspection.</a:t>
            </a:r>
          </a:p>
          <a:p>
            <a:pPr>
              <a:defRPr b="1" sz="2000">
                <a:solidFill>
                  <a:srgbClr val="0070C0"/>
                </a:solidFill>
              </a:defRPr>
            </a:pPr>
            <a:r>
              <a:t>Product Backlog :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Théorie : Liste unique, ordonnée et émergente de tout ce qui est nécessaire.</a:t>
            </a:r>
            <a:br/>
            <a:r>
              <a:t>Chez nous : Notre 'To-Do List' globale de l'ERP gérée exclusivement par le PO.</a:t>
            </a:r>
          </a:p>
          <a:p>
            <a:pPr>
              <a:defRPr b="1" sz="2000">
                <a:solidFill>
                  <a:srgbClr val="0070C0"/>
                </a:solidFill>
              </a:defRPr>
            </a:pPr>
            <a:r>
              <a:t>Sprint Backlog :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Théorie : L'objectif du Sprint et les éléments du Backlog sélectionnés.</a:t>
            </a:r>
            <a:br/>
            <a:r>
              <a:t>Chez nous : Notre plan d'action immédiat sur lequel on s'était engagé.</a:t>
            </a:r>
          </a:p>
          <a:p>
            <a:pPr>
              <a:defRPr b="1" sz="2000">
                <a:solidFill>
                  <a:srgbClr val="0070C0"/>
                </a:solidFill>
              </a:defRPr>
            </a:pPr>
            <a:r>
              <a:t>L'Incrément :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Théorie : Résultat utilisable qui répond à la Definition of Done.</a:t>
            </a:r>
            <a:br/>
            <a:r>
              <a:t>Chez nous : Une version de l'ERP LBP qui tourne localement, testée et sans erreurs critiques.</a:t>
            </a:r>
          </a:p>
        </p:txBody>
      </p:sp>
      <p:pic>
        <p:nvPicPr>
          <p:cNvPr id="5" name="Picture 4" descr="WhatsApp Image 2026-02-20 at 12.20.2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91440"/>
            <a:ext cx="914400" cy="4499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2240"/>
          </a:solidFill>
          <a:ln>
            <a:solidFill>
              <a:srgbClr val="0A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FFFFFF"/>
                </a:solidFill>
              </a:defRPr>
            </a:pPr>
            <a:r>
              <a:t>6. Découpage fonctionnel de l'ERP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70C0"/>
                </a:solidFill>
              </a:defRPr>
            </a:pPr>
            <a:r>
              <a:t>1. Le Portail et l'Authentification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• Connexion sécurisée via Email/Mot de passe.</a:t>
            </a:r>
            <a:br/>
            <a:r>
              <a:t>• Gestion des sessions (expiration automatique).</a:t>
            </a:r>
            <a:br/>
            <a:r>
              <a:t>• Affichage dynamique du dashboard selon les droits.</a:t>
            </a:r>
          </a:p>
          <a:p>
            <a:pPr>
              <a:defRPr b="1" sz="2000">
                <a:solidFill>
                  <a:srgbClr val="0070C0"/>
                </a:solidFill>
              </a:defRPr>
            </a:pPr>
            <a:r>
              <a:t>2. Le Module Ressources Humaines (RH)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• Création et édition d'une fiche employé dans la BDD.</a:t>
            </a:r>
            <a:br/>
            <a:r>
              <a:t>• Visualisation de l'annuaire du personnel.</a:t>
            </a:r>
            <a:br/>
            <a:r>
              <a:t>• Soumission et traitement des demandes de congés.</a:t>
            </a:r>
          </a:p>
          <a:p>
            <a:pPr>
              <a:defRPr b="1" sz="2000">
                <a:solidFill>
                  <a:srgbClr val="0070C0"/>
                </a:solidFill>
              </a:defRPr>
            </a:pPr>
            <a:r>
              <a:t>3. Le Module Administration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• Attribution des rôles et des autorisations (Administrateur / Standard).</a:t>
            </a:r>
            <a:br/>
            <a:r>
              <a:t>• Activation du mode maintenance de l'ERP.</a:t>
            </a:r>
            <a:br/>
            <a:r>
              <a:t>• Consultation des logs d'erreurs système.</a:t>
            </a:r>
          </a:p>
        </p:txBody>
      </p:sp>
      <p:pic>
        <p:nvPicPr>
          <p:cNvPr id="5" name="Picture 4" descr="WhatsApp Image 2026-02-20 at 12.20.2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91440"/>
            <a:ext cx="914400" cy="4499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2240"/>
          </a:solidFill>
          <a:ln>
            <a:solidFill>
              <a:srgbClr val="0A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FFFFFF"/>
                </a:solidFill>
              </a:defRPr>
            </a:pPr>
            <a:r>
              <a:t>7. Extrait de notre Product Backlog</a:t>
            </a:r>
          </a:p>
        </p:txBody>
      </p:sp>
      <p:pic>
        <p:nvPicPr>
          <p:cNvPr id="4" name="Picture 3" descr="WhatsApp Image 2026-02-20 at 12.20.2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91440"/>
            <a:ext cx="914400" cy="449981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371600"/>
          <a:ext cx="8686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5486400"/>
                <a:gridCol w="1371600"/>
                <a:gridCol w="914400"/>
              </a:tblGrid>
              <a:tr h="45720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User Story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Priorité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Taille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23232"/>
                          </a:solidFill>
                        </a:rPr>
                        <a:t>Portail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23232"/>
                          </a:solidFill>
                        </a:rPr>
                        <a:t>En tant qu'utilisateur, je veux m'authentifier, afin d'accéder à l'ERP.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23232"/>
                          </a:solidFill>
                        </a:rPr>
                        <a:t>1 - Critique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23232"/>
                          </a:solidFill>
                        </a:rPr>
                        <a:t>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23232"/>
                          </a:solidFill>
                        </a:rPr>
                        <a:t>Portail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23232"/>
                          </a:solidFill>
                        </a:rPr>
                        <a:t>En tant que système, je veux expirer la session, pour sécuriser l'accès.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23232"/>
                          </a:solidFill>
                        </a:rPr>
                        <a:t>2 - Haute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23232"/>
                          </a:solidFill>
                        </a:rPr>
                        <a:t>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23232"/>
                          </a:solidFill>
                        </a:rPr>
                        <a:t>Portail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23232"/>
                          </a:solidFill>
                        </a:rPr>
                        <a:t>En tant qu'utilisateur, je veux voir le dashboard, pour choisir un module.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23232"/>
                          </a:solidFill>
                        </a:rPr>
                        <a:t>1 - Critique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23232"/>
                          </a:solidFill>
                        </a:rPr>
                        <a:t>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23232"/>
                          </a:solidFill>
                        </a:rPr>
                        <a:t>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23232"/>
                          </a:solidFill>
                        </a:rPr>
                        <a:t>En tant que RH, je veux ajouter un employé, pour peupler la BDD.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23232"/>
                          </a:solidFill>
                        </a:rPr>
                        <a:t>2 - Haute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23232"/>
                          </a:solidFill>
                        </a:rPr>
                        <a:t>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23232"/>
                          </a:solidFill>
                        </a:rPr>
                        <a:t>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23232"/>
                          </a:solidFill>
                        </a:rPr>
                        <a:t>En tant qu'employé, je veux voir l'annuaire, pour contacter un collègue.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23232"/>
                          </a:solidFill>
                        </a:rPr>
                        <a:t>3 - Moyenne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23232"/>
                          </a:solidFill>
                        </a:rPr>
                        <a:t>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23232"/>
                          </a:solidFill>
                        </a:rPr>
                        <a:t>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23232"/>
                          </a:solidFill>
                        </a:rPr>
                        <a:t>En tant qu'employé, je veux demander un congé, pour mes vacances.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23232"/>
                          </a:solidFill>
                        </a:rPr>
                        <a:t>3 - Moyenne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23232"/>
                          </a:solidFill>
                        </a:rPr>
                        <a:t>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23232"/>
                          </a:solidFill>
                        </a:rPr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23232"/>
                          </a:solidFill>
                        </a:rPr>
                        <a:t>En tant qu'admin, je veux attribuer des rôles, pour cloisonner les accès.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23232"/>
                          </a:solidFill>
                        </a:rPr>
                        <a:t>2 - Haute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23232"/>
                          </a:solidFill>
                        </a:rPr>
                        <a:t>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23232"/>
                          </a:solidFill>
                        </a:rPr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23232"/>
                          </a:solidFill>
                        </a:rPr>
                        <a:t>En tant qu'admin, je veux activer la maintenance, pour faire des MAJ.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23232"/>
                          </a:solidFill>
                        </a:rPr>
                        <a:t>4 - Basse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23232"/>
                          </a:solidFill>
                        </a:rPr>
                        <a:t>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23232"/>
                          </a:solidFill>
                        </a:rPr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23232"/>
                          </a:solidFill>
                        </a:rPr>
                        <a:t>En tant qu'admin, je veux visualiser les logs, pour tracer les bugs.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23232"/>
                          </a:solidFill>
                        </a:rPr>
                        <a:t>4 - Basse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23232"/>
                          </a:solidFill>
                        </a:rPr>
                        <a:t>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2240"/>
          </a:solidFill>
          <a:ln>
            <a:solidFill>
              <a:srgbClr val="0A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FFFFFF"/>
                </a:solidFill>
              </a:defRPr>
            </a:pPr>
            <a:r>
              <a:t>8. Conclusion et Bilan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70C0"/>
                </a:solidFill>
              </a:defRPr>
            </a:pPr>
            <a:r>
              <a:t>Ce que Scrum a apporté à notre projet ERP LBP :</a:t>
            </a:r>
          </a:p>
          <a:p>
            <a:pPr>
              <a:defRPr b="1" sz="2000">
                <a:solidFill>
                  <a:srgbClr val="0070C0"/>
                </a:solidFill>
              </a:defRPr>
            </a:pPr>
            <a:r>
              <a:t>Une clarté théorique et pratique :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Chaque cérémonie et chaque artefact a trouvé sa place dans notre travail.</a:t>
            </a:r>
          </a:p>
          <a:p>
            <a:pPr>
              <a:defRPr b="1" sz="2000">
                <a:solidFill>
                  <a:srgbClr val="0070C0"/>
                </a:solidFill>
              </a:defRPr>
            </a:pPr>
            <a:r>
              <a:t>Focus sur la valeur :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En livrant des incréments par itération, nous avions très vite une application fonctionnelle au lieu d'un énorme code non testé à la fin.</a:t>
            </a:r>
          </a:p>
          <a:p>
            <a:pPr>
              <a:defRPr b="1" sz="2000">
                <a:solidFill>
                  <a:srgbClr val="0070C0"/>
                </a:solidFill>
              </a:defRPr>
            </a:pPr>
            <a:r>
              <a:t>Capacité d'adaptation :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Si un module s'avérait trop complexe, on pouvait réestimer le Backlog avec le PO.</a:t>
            </a:r>
          </a:p>
          <a:p>
            <a:pPr>
              <a:defRPr b="1" sz="2000">
                <a:solidFill>
                  <a:srgbClr val="0070C0"/>
                </a:solidFill>
              </a:defRPr>
            </a:pPr>
            <a:r>
              <a:t>En résumé :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Scrum a été un véritable pilier pour la réussite et l'organisation de ce projet d'étude.</a:t>
            </a:r>
          </a:p>
        </p:txBody>
      </p:sp>
      <p:pic>
        <p:nvPicPr>
          <p:cNvPr id="5" name="Picture 4" descr="WhatsApp Image 2026-02-20 at 12.20.2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91440"/>
            <a:ext cx="914400" cy="44998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4400">
                <a:solidFill>
                  <a:srgbClr val="ED7D31"/>
                </a:solidFill>
              </a:defRPr>
            </a:pPr>
            <a:r>
              <a:t>Merci de votre attention 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>
                <a:solidFill>
                  <a:srgbClr val="FFFFFF"/>
                </a:solidFill>
              </a:defRPr>
            </a:pPr>
            <a:r>
              <a:t>Avez-vous des questions sur notre organisation Scrum ou sur l'ERP LBP ?</a:t>
            </a:r>
          </a:p>
        </p:txBody>
      </p:sp>
      <p:pic>
        <p:nvPicPr>
          <p:cNvPr id="4" name="Picture 3" descr="WhatsApp Image 2026-02-20 at 12.20.2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4572000"/>
            <a:ext cx="1371600" cy="6749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